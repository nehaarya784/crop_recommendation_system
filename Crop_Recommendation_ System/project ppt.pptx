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80" d="100"/>
          <a:sy n="80" d="100"/>
        </p:scale>
        <p:origin x="-1522" y="-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0EA3F-B5F9-48A6-9674-5521F7E77291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89BC3-377E-41A2-B6A4-92003323E9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0EA3F-B5F9-48A6-9674-5521F7E77291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89BC3-377E-41A2-B6A4-92003323E9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0EA3F-B5F9-48A6-9674-5521F7E77291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89BC3-377E-41A2-B6A4-92003323E9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0EA3F-B5F9-48A6-9674-5521F7E77291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89BC3-377E-41A2-B6A4-92003323E9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0EA3F-B5F9-48A6-9674-5521F7E77291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89BC3-377E-41A2-B6A4-92003323E9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0EA3F-B5F9-48A6-9674-5521F7E77291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89BC3-377E-41A2-B6A4-92003323E9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0EA3F-B5F9-48A6-9674-5521F7E77291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89BC3-377E-41A2-B6A4-92003323E9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0EA3F-B5F9-48A6-9674-5521F7E77291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89BC3-377E-41A2-B6A4-92003323E9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0EA3F-B5F9-48A6-9674-5521F7E77291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75289BC3-377E-41A2-B6A4-92003323E91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0EA3F-B5F9-48A6-9674-5521F7E77291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89BC3-377E-41A2-B6A4-92003323E9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0EA3F-B5F9-48A6-9674-5521F7E77291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89BC3-377E-41A2-B6A4-92003323E9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0E0EA3F-B5F9-48A6-9674-5521F7E77291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5289BC3-377E-41A2-B6A4-92003323E91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429000"/>
            <a:ext cx="8077200" cy="1673352"/>
          </a:xfrm>
        </p:spPr>
        <p:txBody>
          <a:bodyPr>
            <a:normAutofit fontScale="90000"/>
          </a:bodyPr>
          <a:lstStyle/>
          <a:p>
            <a:pPr algn="r"/>
            <a:r>
              <a:rPr lang="en-US" sz="1800" dirty="0" smtClean="0">
                <a:solidFill>
                  <a:schemeClr val="tx1"/>
                </a:solidFill>
              </a:rPr>
              <a:t/>
            </a:r>
            <a:br>
              <a:rPr lang="en-US" sz="1800" dirty="0" smtClean="0">
                <a:solidFill>
                  <a:schemeClr val="tx1"/>
                </a:solidFill>
              </a:rPr>
            </a:br>
            <a:r>
              <a:rPr lang="en-US" sz="1800" dirty="0" smtClean="0">
                <a:solidFill>
                  <a:schemeClr val="tx1"/>
                </a:solidFill>
              </a:rPr>
              <a:t/>
            </a:r>
            <a:br>
              <a:rPr lang="en-US" sz="1800" dirty="0" smtClean="0">
                <a:solidFill>
                  <a:schemeClr val="tx1"/>
                </a:solidFill>
              </a:rPr>
            </a:br>
            <a:r>
              <a:rPr lang="en-US" sz="1800" dirty="0" smtClean="0">
                <a:solidFill>
                  <a:schemeClr val="tx1"/>
                </a:solidFill>
              </a:rPr>
              <a:t/>
            </a:r>
            <a:br>
              <a:rPr lang="en-US" sz="1800" dirty="0" smtClean="0">
                <a:solidFill>
                  <a:schemeClr val="tx1"/>
                </a:solidFill>
              </a:rPr>
            </a:br>
            <a:r>
              <a:rPr lang="en-US" sz="1800" dirty="0" smtClean="0">
                <a:solidFill>
                  <a:schemeClr val="tx1"/>
                </a:solidFill>
              </a:rPr>
              <a:t/>
            </a:r>
            <a:br>
              <a:rPr lang="en-US" sz="1800" dirty="0" smtClean="0">
                <a:solidFill>
                  <a:schemeClr val="tx1"/>
                </a:solidFill>
              </a:rPr>
            </a:br>
            <a:r>
              <a:rPr lang="en-US" sz="1800" dirty="0" smtClean="0">
                <a:solidFill>
                  <a:schemeClr val="tx1"/>
                </a:solidFill>
              </a:rPr>
              <a:t/>
            </a:r>
            <a:br>
              <a:rPr lang="en-US" sz="1800" dirty="0" smtClean="0">
                <a:solidFill>
                  <a:schemeClr val="tx1"/>
                </a:solidFill>
              </a:rPr>
            </a:br>
            <a:r>
              <a:rPr lang="en-US" sz="2000" dirty="0" smtClean="0">
                <a:solidFill>
                  <a:schemeClr val="tx1"/>
                </a:solidFill>
              </a:rPr>
              <a:t>Presented by:</a:t>
            </a:r>
            <a:br>
              <a:rPr lang="en-US" sz="2000" dirty="0" smtClean="0">
                <a:solidFill>
                  <a:schemeClr val="tx1"/>
                </a:solidFill>
              </a:rPr>
            </a:br>
            <a:r>
              <a:rPr lang="en-US" sz="2000" dirty="0" err="1" smtClean="0">
                <a:solidFill>
                  <a:schemeClr val="tx1"/>
                </a:solidFill>
              </a:rPr>
              <a:t>Neha</a:t>
            </a:r>
            <a:r>
              <a:rPr lang="en-US" sz="2000" dirty="0" smtClean="0">
                <a:solidFill>
                  <a:schemeClr val="tx1"/>
                </a:solidFill>
              </a:rPr>
              <a:t/>
            </a:r>
            <a:br>
              <a:rPr lang="en-US" sz="2000" dirty="0" smtClean="0">
                <a:solidFill>
                  <a:schemeClr val="tx1"/>
                </a:solidFill>
              </a:rPr>
            </a:br>
            <a:r>
              <a:rPr lang="en-US" sz="2000" dirty="0" smtClean="0">
                <a:solidFill>
                  <a:schemeClr val="tx1"/>
                </a:solidFill>
              </a:rPr>
              <a:t>22322810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2438400"/>
            <a:ext cx="7854696" cy="1752600"/>
          </a:xfrm>
        </p:spPr>
        <p:txBody>
          <a:bodyPr>
            <a:normAutofit/>
          </a:bodyPr>
          <a:lstStyle/>
          <a:p>
            <a:pPr algn="ctr"/>
            <a:r>
              <a:rPr lang="en-US" sz="5400" dirty="0" smtClean="0">
                <a:latin typeface="Algerian" pitchFamily="82" charset="0"/>
              </a:rPr>
              <a:t>CROPSMART</a:t>
            </a:r>
            <a:endParaRPr lang="en-US" sz="5400" dirty="0">
              <a:latin typeface="Algerian" pitchFamily="82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97468" y="224427"/>
            <a:ext cx="2828947" cy="76617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638800" y="228600"/>
            <a:ext cx="2557507" cy="6899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Objective: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objective of the Crop Recommendation System is to analyze environmental factors such as soil properties, weather conditions, and nutrient levels to recommend the most suitable crop for a specific region or </a:t>
            </a:r>
            <a:r>
              <a:rPr lang="en-US" dirty="0" err="1" smtClean="0"/>
              <a:t>field.This</a:t>
            </a:r>
            <a:r>
              <a:rPr lang="en-US" dirty="0" smtClean="0"/>
              <a:t> helps farmers make informed decisions, optimize crop yields, improve productivity, and reduce the risk of crop failure, ultimately leading to better economic outcomes for the farming community.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762000"/>
            <a:ext cx="1931830" cy="7212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dirty="0" smtClean="0"/>
              <a:t>Stage 1</a:t>
            </a:r>
            <a:endParaRPr lang="en-IN" dirty="0"/>
          </a:p>
        </p:txBody>
      </p:sp>
      <p:sp>
        <p:nvSpPr>
          <p:cNvPr id="3" name="Rounded Rectangle 2"/>
          <p:cNvSpPr/>
          <p:nvPr/>
        </p:nvSpPr>
        <p:spPr>
          <a:xfrm>
            <a:off x="1600200" y="1676400"/>
            <a:ext cx="1931830" cy="7212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dirty="0" smtClean="0"/>
              <a:t>Stage 2</a:t>
            </a:r>
            <a:endParaRPr lang="en-IN" dirty="0"/>
          </a:p>
        </p:txBody>
      </p:sp>
      <p:sp>
        <p:nvSpPr>
          <p:cNvPr id="4" name="Rounded Rectangle 3"/>
          <p:cNvSpPr/>
          <p:nvPr/>
        </p:nvSpPr>
        <p:spPr>
          <a:xfrm>
            <a:off x="2362200" y="2667000"/>
            <a:ext cx="1931830" cy="6966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Stage 3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895600" y="685800"/>
            <a:ext cx="4252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Importing the Libraries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3276600" y="3733800"/>
            <a:ext cx="1931830" cy="6966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Stage 4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4114800" y="4800600"/>
            <a:ext cx="1931830" cy="6966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Stage 5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810000" y="1752600"/>
            <a:ext cx="507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Data Loading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388425" y="2819400"/>
            <a:ext cx="4755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Data Inspection &amp; Preparation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5105400" y="5867400"/>
            <a:ext cx="1931830" cy="6966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Stage 6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257799" y="3886200"/>
            <a:ext cx="3505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Exploratory Data Analysis Process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240428" y="4953000"/>
            <a:ext cx="2903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Prediction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7162800" y="5943600"/>
            <a:ext cx="198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Training &amp; Evaluation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333829"/>
            <a:ext cx="1645853" cy="7510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Stage 1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4800" y="1524001"/>
            <a:ext cx="449579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smtClean="0"/>
              <a:t>Importing The Libraries</a:t>
            </a:r>
            <a:endParaRPr lang="en-US" sz="2600" dirty="0"/>
          </a:p>
        </p:txBody>
      </p:sp>
      <p:sp>
        <p:nvSpPr>
          <p:cNvPr id="4" name="Rounded Rectangle 3"/>
          <p:cNvSpPr/>
          <p:nvPr/>
        </p:nvSpPr>
        <p:spPr>
          <a:xfrm>
            <a:off x="304800" y="2263788"/>
            <a:ext cx="1386460" cy="6910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ctr">
              <a:buFont typeface="Wingdings" panose="05000000000000000000" pitchFamily="2" charset="2"/>
              <a:buChar char="q"/>
            </a:pPr>
            <a:r>
              <a:rPr lang="en-IN" dirty="0" err="1" smtClean="0"/>
              <a:t>Numpy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1600200" y="3124200"/>
            <a:ext cx="67709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/>
              <a:t>NumPy</a:t>
            </a:r>
            <a:r>
              <a:rPr lang="en-US" dirty="0"/>
              <a:t> (Numerical Python) is a Python library that excels in array operations. It is widely used in mathematical computations, machine learning, and data science</a:t>
            </a:r>
            <a:r>
              <a:rPr lang="en-US" dirty="0" smtClean="0"/>
              <a:t>.</a:t>
            </a:r>
          </a:p>
          <a:p>
            <a:r>
              <a:rPr lang="en-US" dirty="0" smtClean="0"/>
              <a:t>                                          </a:t>
            </a:r>
            <a:r>
              <a:rPr lang="en-US" dirty="0" err="1" smtClean="0"/>
              <a:t>eg</a:t>
            </a:r>
            <a:r>
              <a:rPr lang="en-US" dirty="0" smtClean="0"/>
              <a:t>; import </a:t>
            </a:r>
            <a:r>
              <a:rPr lang="en-US" dirty="0" err="1" smtClean="0"/>
              <a:t>numpy</a:t>
            </a:r>
            <a:r>
              <a:rPr lang="en-US" dirty="0" smtClean="0"/>
              <a:t> as </a:t>
            </a:r>
            <a:r>
              <a:rPr lang="en-US" dirty="0" err="1" smtClean="0"/>
              <a:t>np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304800" y="4601816"/>
            <a:ext cx="1386460" cy="6910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ctr">
              <a:buFont typeface="Wingdings" panose="05000000000000000000" pitchFamily="2" charset="2"/>
              <a:buChar char="q"/>
            </a:pPr>
            <a:r>
              <a:rPr lang="en-IN" dirty="0" smtClean="0"/>
              <a:t>Pandas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1752600" y="5410200"/>
            <a:ext cx="65407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pandas is a fast, powerful, flexible and easy to use open source data analysis and manipulation tool, built on top of the Python programming language</a:t>
            </a:r>
            <a:r>
              <a:rPr lang="en-US" dirty="0" smtClean="0"/>
              <a:t>.</a:t>
            </a:r>
          </a:p>
          <a:p>
            <a:r>
              <a:rPr lang="en-US" dirty="0"/>
              <a:t> </a:t>
            </a:r>
            <a:r>
              <a:rPr lang="en-US" dirty="0" smtClean="0"/>
              <a:t>                                    </a:t>
            </a:r>
            <a:r>
              <a:rPr lang="en-US" dirty="0" err="1" smtClean="0"/>
              <a:t>eg</a:t>
            </a:r>
            <a:r>
              <a:rPr lang="en-US" dirty="0" smtClean="0"/>
              <a:t>; import pandas as </a:t>
            </a:r>
            <a:r>
              <a:rPr lang="en-US" dirty="0" err="1" smtClean="0"/>
              <a:t>pd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610786"/>
            <a:ext cx="1600200" cy="5576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ctr">
              <a:buFont typeface="Wingdings" panose="05000000000000000000" pitchFamily="2" charset="2"/>
              <a:buChar char="q"/>
            </a:pPr>
            <a:r>
              <a:rPr lang="en-IN" dirty="0" err="1" smtClean="0"/>
              <a:t>Matplotlib</a:t>
            </a:r>
            <a:endParaRPr lang="en-IN" dirty="0"/>
          </a:p>
        </p:txBody>
      </p:sp>
      <p:sp>
        <p:nvSpPr>
          <p:cNvPr id="3" name="Rounded Rectangle 2"/>
          <p:cNvSpPr/>
          <p:nvPr/>
        </p:nvSpPr>
        <p:spPr>
          <a:xfrm>
            <a:off x="457200" y="4827186"/>
            <a:ext cx="1398706" cy="5576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ctr">
              <a:buFont typeface="Wingdings" panose="05000000000000000000" pitchFamily="2" charset="2"/>
              <a:buChar char="q"/>
            </a:pPr>
            <a:r>
              <a:rPr lang="en-IN" dirty="0" err="1" smtClean="0"/>
              <a:t>Seaborn</a:t>
            </a:r>
            <a:endParaRPr lang="en-IN" dirty="0"/>
          </a:p>
        </p:txBody>
      </p:sp>
      <p:sp>
        <p:nvSpPr>
          <p:cNvPr id="4" name="Rounded Rectangle 3"/>
          <p:cNvSpPr/>
          <p:nvPr/>
        </p:nvSpPr>
        <p:spPr>
          <a:xfrm>
            <a:off x="457200" y="2971800"/>
            <a:ext cx="1752600" cy="5576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ctr">
              <a:buFont typeface="Wingdings" panose="05000000000000000000" pitchFamily="2" charset="2"/>
              <a:buChar char="q"/>
            </a:pPr>
            <a:r>
              <a:rPr lang="en-IN" dirty="0" err="1" smtClean="0"/>
              <a:t>Scikit</a:t>
            </a:r>
            <a:r>
              <a:rPr lang="en-IN" dirty="0" smtClean="0"/>
              <a:t>-Learn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2286000" y="1066800"/>
            <a:ext cx="5969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smtClean="0"/>
              <a:t>The </a:t>
            </a:r>
            <a:r>
              <a:rPr lang="en-US" sz="2000" dirty="0"/>
              <a:t>most popular Python library for data visualization and exploration, with examples of bar graphs, pie charts, box plots, histograms, line charts and scatter plots. </a:t>
            </a:r>
            <a:endParaRPr lang="en-US" sz="2000" dirty="0" smtClean="0"/>
          </a:p>
          <a:p>
            <a:r>
              <a:rPr lang="en-US" sz="2000" dirty="0"/>
              <a:t> </a:t>
            </a:r>
            <a:r>
              <a:rPr lang="en-US" sz="2000" dirty="0" smtClean="0"/>
              <a:t>                               </a:t>
            </a:r>
            <a:r>
              <a:rPr lang="en-US" sz="2000" dirty="0" err="1" smtClean="0"/>
              <a:t>eg</a:t>
            </a:r>
            <a:r>
              <a:rPr lang="en-US" sz="2000" dirty="0" smtClean="0"/>
              <a:t>; import </a:t>
            </a:r>
            <a:r>
              <a:rPr lang="en-US" sz="2000" dirty="0" err="1" smtClean="0"/>
              <a:t>matplotlib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2286000" y="5257800"/>
            <a:ext cx="63788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err="1"/>
              <a:t>Seaborn</a:t>
            </a:r>
            <a:r>
              <a:rPr lang="en-US" sz="2000" dirty="0"/>
              <a:t>,</a:t>
            </a:r>
            <a:r>
              <a:rPr lang="en-US" sz="2000" b="1" dirty="0"/>
              <a:t> a visualization library for statistical graphics plotting in Python, built</a:t>
            </a:r>
            <a:r>
              <a:rPr lang="en-US" sz="2000" dirty="0"/>
              <a:t> on top of </a:t>
            </a:r>
            <a:r>
              <a:rPr lang="en-US" sz="2000" dirty="0" err="1"/>
              <a:t>Matplotlib</a:t>
            </a:r>
            <a:r>
              <a:rPr lang="en-US" sz="2000" dirty="0"/>
              <a:t> and </a:t>
            </a:r>
            <a:r>
              <a:rPr lang="en-US" sz="2000" dirty="0" smtClean="0"/>
              <a:t>Pandas.</a:t>
            </a:r>
            <a:endParaRPr lang="en-US" sz="2000" dirty="0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2286000" y="3366663"/>
            <a:ext cx="683953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000" dirty="0" err="1" smtClean="0"/>
              <a:t>Scikit</a:t>
            </a:r>
            <a:r>
              <a:rPr lang="en-US" sz="2000" dirty="0" smtClean="0"/>
              <a:t>-learn </a:t>
            </a:r>
            <a:r>
              <a:rPr lang="en-US" sz="2000" dirty="0"/>
              <a:t>is an open source library for predictive data analysis, built on </a:t>
            </a:r>
            <a:r>
              <a:rPr lang="en-US" sz="2000" dirty="0" err="1"/>
              <a:t>NumPy</a:t>
            </a:r>
            <a:r>
              <a:rPr lang="en-US" sz="2000" dirty="0"/>
              <a:t>, </a:t>
            </a:r>
            <a:r>
              <a:rPr lang="en-US" sz="2000" dirty="0" err="1"/>
              <a:t>SciPy</a:t>
            </a:r>
            <a:r>
              <a:rPr lang="en-US" sz="2000" dirty="0"/>
              <a:t>, and </a:t>
            </a:r>
            <a:r>
              <a:rPr lang="en-US" sz="2000" dirty="0" err="1"/>
              <a:t>matplotlib</a:t>
            </a:r>
            <a:r>
              <a:rPr lang="en-US" sz="2000" dirty="0"/>
              <a:t>. It offers simple and efficient tools for classification, regression, </a:t>
            </a:r>
            <a:r>
              <a:rPr lang="en-US" sz="2000" dirty="0" smtClean="0"/>
              <a:t>clustering</a:t>
            </a:r>
            <a:r>
              <a:rPr lang="en-US" sz="2000" dirty="0"/>
              <a:t> </a:t>
            </a:r>
            <a:r>
              <a:rPr lang="en-US" sz="2000" dirty="0" smtClean="0"/>
              <a:t>and preprocessing.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799" y="312967"/>
            <a:ext cx="1752601" cy="5252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Stage 2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77370" y="1262515"/>
            <a:ext cx="444137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smtClean="0"/>
              <a:t>Data Loading</a:t>
            </a:r>
            <a:endParaRPr lang="en-US" sz="2600" dirty="0"/>
          </a:p>
        </p:txBody>
      </p:sp>
      <p:sp>
        <p:nvSpPr>
          <p:cNvPr id="4" name="TextBox 3"/>
          <p:cNvSpPr txBox="1"/>
          <p:nvPr/>
        </p:nvSpPr>
        <p:spPr>
          <a:xfrm>
            <a:off x="377370" y="1907426"/>
            <a:ext cx="91585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Source of Dataset: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Dataset Source: </a:t>
            </a:r>
            <a:r>
              <a:rPr lang="en-US" dirty="0" err="1" smtClean="0"/>
              <a:t>Kaggle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Dataset Name: Crop_recommendation.csv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Usage: Analyzing such data can provide insights into spending behavior, recommendation the crops, and helps the farmer crop planning.</a:t>
            </a:r>
            <a:endParaRPr lang="en-US" dirty="0"/>
          </a:p>
        </p:txBody>
      </p:sp>
      <p:pic>
        <p:nvPicPr>
          <p:cNvPr id="5" name="Picture 4" descr="Kaggle Brand Guideline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971800" y="685800"/>
            <a:ext cx="330118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creenshot 2024-10-17 2108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3962400"/>
            <a:ext cx="3934332" cy="21291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6744" y="711708"/>
            <a:ext cx="1760110" cy="5296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Stage 3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46744" y="1786806"/>
            <a:ext cx="4667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Data Inspection &amp; Preparation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46744" y="3618742"/>
            <a:ext cx="866865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 smtClean="0"/>
              <a:t> </a:t>
            </a:r>
            <a:r>
              <a:rPr lang="en-US" b="1" dirty="0" smtClean="0"/>
              <a:t>Shape:</a:t>
            </a:r>
            <a:r>
              <a:rPr lang="en-US" dirty="0" smtClean="0"/>
              <a:t> Dataset shape identified using `</a:t>
            </a:r>
            <a:r>
              <a:rPr lang="en-US" dirty="0" err="1" smtClean="0"/>
              <a:t>crop.shape</a:t>
            </a:r>
            <a:r>
              <a:rPr lang="en-US" dirty="0" smtClean="0"/>
              <a:t>` (rows, columns).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 </a:t>
            </a:r>
            <a:r>
              <a:rPr lang="en-US" b="1" dirty="0" smtClean="0"/>
              <a:t>First Five Rows: </a:t>
            </a:r>
            <a:r>
              <a:rPr lang="en-US" dirty="0" smtClean="0"/>
              <a:t>Previewed the dataset with ‘</a:t>
            </a:r>
            <a:r>
              <a:rPr lang="en-US" dirty="0" err="1" smtClean="0"/>
              <a:t>crop.head</a:t>
            </a:r>
            <a:r>
              <a:rPr lang="en-US" dirty="0" smtClean="0"/>
              <a:t>()`.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 </a:t>
            </a:r>
            <a:r>
              <a:rPr lang="en-US" b="1" dirty="0" smtClean="0"/>
              <a:t>Data Types:</a:t>
            </a:r>
            <a:r>
              <a:rPr lang="en-US" dirty="0" smtClean="0"/>
              <a:t> Checked data types of all columns with `</a:t>
            </a:r>
            <a:r>
              <a:rPr lang="en-US" dirty="0" err="1" smtClean="0"/>
              <a:t>crop.dtypes</a:t>
            </a:r>
            <a:r>
              <a:rPr lang="en-US" dirty="0" smtClean="0"/>
              <a:t>`.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 </a:t>
            </a:r>
            <a:r>
              <a:rPr lang="en-US" b="1" dirty="0" smtClean="0"/>
              <a:t>Summary:</a:t>
            </a:r>
            <a:r>
              <a:rPr lang="en-US" dirty="0" smtClean="0"/>
              <a:t> Dataset overview via  crop.info()` and statistical summary with ‘</a:t>
            </a:r>
            <a:r>
              <a:rPr lang="en-US" dirty="0" err="1" smtClean="0"/>
              <a:t>crop.describe</a:t>
            </a:r>
            <a:r>
              <a:rPr lang="en-US" dirty="0" smtClean="0"/>
              <a:t>()`.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246744" y="2698755"/>
            <a:ext cx="1849232" cy="4874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ctr">
              <a:buFont typeface="Wingdings" panose="05000000000000000000" pitchFamily="2" charset="2"/>
              <a:buChar char="q"/>
            </a:pPr>
            <a:r>
              <a:rPr lang="en-IN" dirty="0" smtClean="0"/>
              <a:t>Data Inspection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535986"/>
            <a:ext cx="2293257" cy="7837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Stage 4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06400" y="1944914"/>
            <a:ext cx="5515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Exploratory Data Analysis(EDA) Process: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66671" y="2601532"/>
            <a:ext cx="79677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Exploratory </a:t>
            </a:r>
            <a:r>
              <a:rPr lang="en-US" dirty="0"/>
              <a:t>D</a:t>
            </a:r>
            <a:r>
              <a:rPr lang="en-US" dirty="0" smtClean="0"/>
              <a:t>ata Analysis (EDA) is a technique for understanding datasets by summarizing their characteristics, detecting patterns, and uncovering relationships. With the help of EDA process we can create a bar graph, scatter, histogram etc.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5459" y="3928056"/>
            <a:ext cx="55507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Use the libraries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Pandas: For data manipulation and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Numpy</a:t>
            </a:r>
            <a:r>
              <a:rPr lang="en-US" dirty="0" smtClean="0"/>
              <a:t>: For numerical computing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Matplotlib</a:t>
            </a:r>
            <a:r>
              <a:rPr lang="en-US" dirty="0" smtClean="0"/>
              <a:t>: For plotting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Seaborn</a:t>
            </a:r>
            <a:r>
              <a:rPr lang="en-US" dirty="0" smtClean="0"/>
              <a:t>: For plotting dataset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16375" y="381276"/>
            <a:ext cx="2293257" cy="7837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Stage 5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14648" y="1187441"/>
            <a:ext cx="610887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600" dirty="0" smtClean="0"/>
              <a:t> Prediction Modeling</a:t>
            </a:r>
            <a:endParaRPr lang="en-US" sz="2600" dirty="0"/>
          </a:p>
        </p:txBody>
      </p:sp>
      <p:sp>
        <p:nvSpPr>
          <p:cNvPr id="10" name="TextBox 9"/>
          <p:cNvSpPr txBox="1"/>
          <p:nvPr/>
        </p:nvSpPr>
        <p:spPr>
          <a:xfrm>
            <a:off x="437883" y="1687246"/>
            <a:ext cx="85537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</a:t>
            </a:r>
            <a:r>
              <a:rPr lang="en-US" dirty="0"/>
              <a:t>models used in this project include a combination of </a:t>
            </a:r>
            <a:r>
              <a:rPr lang="en-US" b="1" dirty="0"/>
              <a:t>supervised learning algorithms</a:t>
            </a:r>
            <a:r>
              <a:rPr lang="en-US" dirty="0"/>
              <a:t> to handle both </a:t>
            </a:r>
            <a:r>
              <a:rPr lang="en-US" b="1" dirty="0"/>
              <a:t>regression</a:t>
            </a:r>
            <a:r>
              <a:rPr lang="en-US" dirty="0"/>
              <a:t> and </a:t>
            </a:r>
            <a:r>
              <a:rPr lang="en-US" b="1" dirty="0"/>
              <a:t>classification tasks</a:t>
            </a:r>
            <a:r>
              <a:rPr lang="en-US" dirty="0"/>
              <a:t>, depending on the prediction </a:t>
            </a:r>
            <a:r>
              <a:rPr lang="en-US" dirty="0" smtClean="0"/>
              <a:t>goals.</a:t>
            </a:r>
            <a:endParaRPr lang="en-US" dirty="0"/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37882" y="3490175"/>
            <a:ext cx="7984901" cy="1584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 rot="10800000" flipV="1">
            <a:off x="152400" y="3303180"/>
            <a:ext cx="881344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 smtClean="0"/>
              <a:t>Model </a:t>
            </a:r>
            <a:r>
              <a:rPr lang="en-US" b="1" dirty="0" err="1" smtClean="0"/>
              <a:t>Used:Multiclass</a:t>
            </a:r>
            <a:r>
              <a:rPr lang="en-US" b="1" dirty="0" smtClean="0"/>
              <a:t> classification problem.</a:t>
            </a:r>
            <a:endParaRPr lang="en-US" dirty="0"/>
          </a:p>
          <a:p>
            <a:r>
              <a:rPr lang="en-US" b="1" dirty="0"/>
              <a:t>Process: </a:t>
            </a:r>
            <a:endParaRPr lang="en-US" dirty="0"/>
          </a:p>
          <a:p>
            <a:endParaRPr lang="en-US" dirty="0"/>
          </a:p>
          <a:p>
            <a:r>
              <a:rPr lang="en-US" dirty="0"/>
              <a:t>▪ Data Split: Split into training and testing sets. 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▪ Model Training: Trained logistic regression on the selected features 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▪ Evaluation: Assessed model using </a:t>
            </a:r>
            <a:r>
              <a:rPr lang="en-US" dirty="0" smtClean="0"/>
              <a:t>accuracy. </a:t>
            </a:r>
          </a:p>
          <a:p>
            <a:endParaRPr lang="en-US" dirty="0"/>
          </a:p>
          <a:p>
            <a:r>
              <a:rPr lang="en-US" b="1" dirty="0"/>
              <a:t>Libraries Used: </a:t>
            </a:r>
            <a:r>
              <a:rPr lang="en-US" dirty="0" err="1"/>
              <a:t>Scikit</a:t>
            </a:r>
            <a:r>
              <a:rPr lang="en-US" dirty="0"/>
              <a:t>-learn for modeling and evaluation</a:t>
            </a:r>
            <a:r>
              <a:rPr lang="en-US" dirty="0" smtClean="0"/>
              <a:t>.</a:t>
            </a:r>
          </a:p>
          <a:p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265529"/>
            <a:ext cx="2293257" cy="7837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Stage 6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4800" y="1365160"/>
            <a:ext cx="576973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600" dirty="0"/>
              <a:t> </a:t>
            </a:r>
            <a:r>
              <a:rPr lang="en-US" sz="2600" dirty="0" smtClean="0"/>
              <a:t>Training &amp; Evaluation</a:t>
            </a:r>
            <a:endParaRPr lang="en-US" sz="2600" dirty="0"/>
          </a:p>
        </p:txBody>
      </p:sp>
      <p:sp>
        <p:nvSpPr>
          <p:cNvPr id="4" name="TextBox 3"/>
          <p:cNvSpPr txBox="1"/>
          <p:nvPr/>
        </p:nvSpPr>
        <p:spPr>
          <a:xfrm>
            <a:off x="637503" y="2421228"/>
            <a:ext cx="110629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Training Process</a:t>
            </a:r>
            <a:r>
              <a:rPr lang="en-US" dirty="0"/>
              <a:t>: The model is fed the training </a:t>
            </a:r>
            <a:endParaRPr lang="en-US" dirty="0" smtClean="0"/>
          </a:p>
          <a:p>
            <a:r>
              <a:rPr lang="en-US" dirty="0" smtClean="0"/>
              <a:t>data</a:t>
            </a:r>
            <a:r>
              <a:rPr lang="en-US" dirty="0"/>
              <a:t>, where it learns the relationships between </a:t>
            </a:r>
            <a:r>
              <a:rPr lang="en-US" dirty="0" smtClean="0"/>
              <a:t>the</a:t>
            </a:r>
          </a:p>
          <a:p>
            <a:r>
              <a:rPr lang="en-US" dirty="0" smtClean="0"/>
              <a:t>input </a:t>
            </a:r>
            <a:r>
              <a:rPr lang="en-US" dirty="0"/>
              <a:t>features and the target variable 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37503" y="4175132"/>
            <a:ext cx="82778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After training, the model is tested on the </a:t>
            </a:r>
            <a:r>
              <a:rPr lang="en-US" b="1" dirty="0"/>
              <a:t>testing dataset</a:t>
            </a:r>
            <a:r>
              <a:rPr lang="en-US" dirty="0"/>
              <a:t> to evaluate its performance. Various </a:t>
            </a:r>
            <a:r>
              <a:rPr lang="en-US" b="1" dirty="0"/>
              <a:t>evaluation metrics</a:t>
            </a:r>
            <a:r>
              <a:rPr lang="en-US" dirty="0"/>
              <a:t> are used depending on whether it is a classification or regression task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8390" t="34050" r="38321" b="7122"/>
          <a:stretch/>
        </p:blipFill>
        <p:spPr>
          <a:xfrm>
            <a:off x="6858000" y="914400"/>
            <a:ext cx="1807253" cy="11675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19400" y="1066800"/>
            <a:ext cx="3480514" cy="7501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smtClean="0"/>
              <a:t>Future Scope</a:t>
            </a:r>
            <a:endParaRPr lang="en-US" sz="2600" dirty="0"/>
          </a:p>
        </p:txBody>
      </p:sp>
      <p:sp>
        <p:nvSpPr>
          <p:cNvPr id="3" name="Rectangle 2"/>
          <p:cNvSpPr/>
          <p:nvPr/>
        </p:nvSpPr>
        <p:spPr>
          <a:xfrm>
            <a:off x="609600" y="2133600"/>
            <a:ext cx="7696200" cy="7017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Improve accuracy</a:t>
            </a:r>
            <a:endParaRPr lang="en-US" dirty="0" smtClean="0"/>
          </a:p>
          <a:p>
            <a:pPr fontAlgn="ctr"/>
            <a:r>
              <a:rPr lang="en-US" dirty="0" smtClean="0"/>
              <a:t>ML can be used to train models that can accurately predict the best crops to grow in a given location. </a:t>
            </a:r>
          </a:p>
          <a:p>
            <a:r>
              <a:rPr lang="en-US" b="1" dirty="0" smtClean="0"/>
              <a:t>Increase sustainability</a:t>
            </a:r>
            <a:endParaRPr lang="en-US" dirty="0" smtClean="0"/>
          </a:p>
          <a:p>
            <a:pPr fontAlgn="ctr"/>
            <a:r>
              <a:rPr lang="en-US" dirty="0" smtClean="0"/>
              <a:t>ML can help farmers conserve resources and minimize environmental impact. </a:t>
            </a:r>
          </a:p>
          <a:p>
            <a:r>
              <a:rPr lang="en-US" b="1" dirty="0" smtClean="0"/>
              <a:t>Detect pests and diseases</a:t>
            </a:r>
            <a:endParaRPr lang="en-US" dirty="0" smtClean="0"/>
          </a:p>
          <a:p>
            <a:pPr fontAlgn="ctr"/>
            <a:r>
              <a:rPr lang="en-US" dirty="0" smtClean="0"/>
              <a:t>ML can help farmers identify pests and diseases that could damage their crops. </a:t>
            </a:r>
          </a:p>
          <a:p>
            <a:r>
              <a:rPr lang="en-US" b="1" dirty="0" smtClean="0"/>
              <a:t>Automate recommendations</a:t>
            </a:r>
            <a:endParaRPr lang="en-US" dirty="0" smtClean="0"/>
          </a:p>
          <a:p>
            <a:pPr fontAlgn="ctr"/>
            <a:r>
              <a:rPr lang="en-US" dirty="0" smtClean="0"/>
              <a:t>ML can automate the process of making crop recommendations, freeing up farmers' time. </a:t>
            </a:r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 smtClean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48000" y="2590800"/>
            <a:ext cx="3644721" cy="1133340"/>
          </a:xfrm>
          <a:prstGeom prst="rect">
            <a:avLst/>
          </a:prstGeo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600" dirty="0" smtClean="0">
                <a:latin typeface="Algerian" pitchFamily="82" charset="0"/>
                <a:cs typeface="Times New Roman" panose="02020603050405020304" pitchFamily="18" charset="0"/>
              </a:rPr>
              <a:t>THANK YOU</a:t>
            </a:r>
            <a:endParaRPr lang="en-IN" sz="3600" dirty="0">
              <a:latin typeface="Algerian" pitchFamily="8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135</TotalTime>
  <Words>594</Words>
  <Application>Microsoft Office PowerPoint</Application>
  <PresentationFormat>On-screen Show (4:3)</PresentationFormat>
  <Paragraphs>94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Flow</vt:lpstr>
      <vt:lpstr>     Presented by: Neha 22322810</vt:lpstr>
      <vt:lpstr> Objective: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Presented by: Neha 22322810</dc:title>
  <dc:creator>Windows User</dc:creator>
  <cp:lastModifiedBy>Windows User</cp:lastModifiedBy>
  <cp:revision>14</cp:revision>
  <dcterms:created xsi:type="dcterms:W3CDTF">2024-10-17T14:57:53Z</dcterms:created>
  <dcterms:modified xsi:type="dcterms:W3CDTF">2024-10-21T09:33:07Z</dcterms:modified>
</cp:coreProperties>
</file>